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648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6B9EFB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59" autoAdjust="0"/>
    <p:restoredTop sz="94660"/>
  </p:normalViewPr>
  <p:slideViewPr>
    <p:cSldViewPr snapToGrid="0">
      <p:cViewPr varScale="1">
        <p:scale>
          <a:sx n="75" d="100"/>
          <a:sy n="75" d="100"/>
        </p:scale>
        <p:origin x="5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9564C-2FCE-4F0D-8A20-A4917B30CE22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01936-8113-4831-8F0F-8FCC7C0DFD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9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46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5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4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7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5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5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3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7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5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0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5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24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2FF6-E28C-4C23-B68B-A19383E39AD0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66C2C-0C30-4DF7-A7C4-36D02F49BE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6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51" r:id="rId3"/>
    <p:sldLayoutId id="2147483652" r:id="rId4"/>
    <p:sldLayoutId id="214748367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64" r:id="rId3"/>
    <p:sldLayoutId id="214748367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840FE335-85D7-6846-9A3A-5ABDFAA1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0"/>
            <a:ext cx="2286000" cy="14859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121A98C2-25B6-A143-A3A1-668C4729BAF3}"/>
              </a:ext>
            </a:extLst>
          </p:cNvPr>
          <p:cNvSpPr/>
          <p:nvPr/>
        </p:nvSpPr>
        <p:spPr>
          <a:xfrm>
            <a:off x="0" y="6614556"/>
            <a:ext cx="12192000" cy="243444"/>
          </a:xfrm>
          <a:prstGeom prst="rect">
            <a:avLst/>
          </a:prstGeom>
          <a:solidFill>
            <a:srgbClr val="7A1632"/>
          </a:solidFill>
          <a:ln>
            <a:solidFill>
              <a:srgbClr val="7A16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2" descr="La ética como disciplina filosófica | UDGVirtual Formación Integr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2211007" y="362468"/>
            <a:ext cx="66455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0" i="0" dirty="0">
                <a:solidFill>
                  <a:srgbClr val="7030A0"/>
                </a:solidFill>
                <a:effectLst/>
                <a:cs typeface="Times New Roman" panose="02020603050405020304" pitchFamily="18" charset="0"/>
              </a:rPr>
              <a:t>FORMAS DE COMUNICACIÓN Y PERCEPCIÓN</a:t>
            </a:r>
          </a:p>
        </p:txBody>
      </p:sp>
      <p:sp>
        <p:nvSpPr>
          <p:cNvPr id="8" name="Rectángulo 7"/>
          <p:cNvSpPr/>
          <p:nvPr/>
        </p:nvSpPr>
        <p:spPr>
          <a:xfrm>
            <a:off x="768096" y="1004560"/>
            <a:ext cx="9976104" cy="4270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7360" marR="1748155" algn="ctr">
              <a:spcAft>
                <a:spcPts val="0"/>
              </a:spcAft>
            </a:pPr>
            <a:r>
              <a:rPr lang="es-ES" sz="1600" b="1" kern="0" dirty="0">
                <a:ea typeface="Times New Roman" panose="02020603050405020304" pitchFamily="18" charset="0"/>
              </a:rPr>
              <a:t>INTEGRANTES:</a:t>
            </a:r>
            <a:endParaRPr lang="en-US" sz="1600" b="1" kern="0" dirty="0">
              <a:ea typeface="Times New Roman" panose="02020603050405020304" pitchFamily="18" charset="0"/>
            </a:endParaRPr>
          </a:p>
          <a:p>
            <a:pPr marL="1739900" marR="1748155" algn="ctr">
              <a:lnSpc>
                <a:spcPct val="150000"/>
              </a:lnSpc>
              <a:spcBef>
                <a:spcPts val="925"/>
              </a:spcBef>
              <a:spcAft>
                <a:spcPts val="0"/>
              </a:spcAft>
            </a:pPr>
            <a:r>
              <a:rPr lang="es-ES" sz="1400" dirty="0">
                <a:ea typeface="Times New Roman" panose="02020603050405020304" pitchFamily="18" charset="0"/>
              </a:rPr>
              <a:t>RITA VACA ZAMORA</a:t>
            </a:r>
          </a:p>
          <a:p>
            <a:pPr marL="1739900" marR="1748155" algn="ctr">
              <a:lnSpc>
                <a:spcPct val="150000"/>
              </a:lnSpc>
              <a:spcBef>
                <a:spcPts val="925"/>
              </a:spcBef>
              <a:spcAft>
                <a:spcPts val="0"/>
              </a:spcAft>
            </a:pPr>
            <a:r>
              <a:rPr lang="en-US" sz="1400" dirty="0">
                <a:effectLst/>
                <a:ea typeface="Times New Roman" panose="02020603050405020304" pitchFamily="18" charset="0"/>
              </a:rPr>
              <a:t>ELVIS CRESPO SUAREZ</a:t>
            </a: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0"/>
              </a:spcAft>
            </a:pPr>
            <a:r>
              <a:rPr lang="es-ES" sz="1400" dirty="0">
                <a:effectLst/>
                <a:ea typeface="Times New Roman" panose="02020603050405020304" pitchFamily="18" charset="0"/>
              </a:rPr>
              <a:t> </a:t>
            </a:r>
            <a:endParaRPr lang="en-US" sz="1400" dirty="0">
              <a:effectLst/>
              <a:ea typeface="Times New Roman" panose="02020603050405020304" pitchFamily="18" charset="0"/>
            </a:endParaRPr>
          </a:p>
          <a:p>
            <a:pPr marL="1739900" marR="1748155" algn="ctr">
              <a:lnSpc>
                <a:spcPct val="150000"/>
              </a:lnSpc>
              <a:spcAft>
                <a:spcPts val="0"/>
              </a:spcAft>
            </a:pPr>
            <a:r>
              <a:rPr lang="es-ES" sz="1600" b="1" kern="0" dirty="0">
                <a:ea typeface="Times New Roman" panose="02020603050405020304" pitchFamily="18" charset="0"/>
              </a:rPr>
              <a:t>Fecha</a:t>
            </a:r>
            <a:r>
              <a:rPr lang="es-ES" sz="1600" b="1" kern="0" spc="-10" dirty="0">
                <a:ea typeface="Times New Roman" panose="02020603050405020304" pitchFamily="18" charset="0"/>
              </a:rPr>
              <a:t> </a:t>
            </a:r>
            <a:r>
              <a:rPr lang="es-ES" sz="1600" b="1" kern="0" dirty="0">
                <a:ea typeface="Times New Roman" panose="02020603050405020304" pitchFamily="18" charset="0"/>
              </a:rPr>
              <a:t>de</a:t>
            </a:r>
            <a:r>
              <a:rPr lang="es-ES" sz="1600" b="1" kern="0" spc="-15" dirty="0">
                <a:ea typeface="Times New Roman" panose="02020603050405020304" pitchFamily="18" charset="0"/>
              </a:rPr>
              <a:t> </a:t>
            </a:r>
            <a:r>
              <a:rPr lang="es-ES" sz="1600" b="1" kern="0" dirty="0">
                <a:ea typeface="Times New Roman" panose="02020603050405020304" pitchFamily="18" charset="0"/>
              </a:rPr>
              <a:t>entrega:</a:t>
            </a:r>
            <a:endParaRPr lang="en-US" sz="1600" b="1" kern="0" dirty="0">
              <a:ea typeface="Times New Roman" panose="02020603050405020304" pitchFamily="18" charset="0"/>
            </a:endParaRPr>
          </a:p>
          <a:p>
            <a:pPr marL="1739900" marR="1748155" algn="ctr">
              <a:lnSpc>
                <a:spcPct val="150000"/>
              </a:lnSpc>
              <a:spcAft>
                <a:spcPts val="0"/>
              </a:spcAft>
            </a:pPr>
            <a:r>
              <a:rPr lang="es-ES" sz="1400" dirty="0">
                <a:ea typeface="Times New Roman" panose="02020603050405020304" pitchFamily="18" charset="0"/>
              </a:rPr>
              <a:t>30 DE JUNIO DEL </a:t>
            </a:r>
            <a:r>
              <a:rPr lang="es-ES" sz="1400" spc="-15" dirty="0">
                <a:ea typeface="Times New Roman" panose="02020603050405020304" pitchFamily="18" charset="0"/>
              </a:rPr>
              <a:t> </a:t>
            </a:r>
            <a:r>
              <a:rPr lang="es-ES" sz="1400" dirty="0">
                <a:ea typeface="Times New Roman" panose="02020603050405020304" pitchFamily="18" charset="0"/>
              </a:rPr>
              <a:t>2024</a:t>
            </a:r>
            <a:endParaRPr lang="en-US" sz="1400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ES" sz="1400" dirty="0">
                <a:effectLst/>
                <a:ea typeface="Times New Roman" panose="02020603050405020304" pitchFamily="18" charset="0"/>
              </a:rPr>
              <a:t> </a:t>
            </a:r>
            <a:endParaRPr lang="en-US" sz="1400" dirty="0">
              <a:effectLst/>
              <a:ea typeface="Times New Roman" panose="02020603050405020304" pitchFamily="18" charset="0"/>
            </a:endParaRPr>
          </a:p>
          <a:p>
            <a:pPr marL="637540" marR="646430" algn="ctr">
              <a:lnSpc>
                <a:spcPct val="150000"/>
              </a:lnSpc>
              <a:spcAft>
                <a:spcPts val="0"/>
              </a:spcAft>
            </a:pPr>
            <a:r>
              <a:rPr lang="es-ES" sz="1600" b="1" kern="0" dirty="0">
                <a:ea typeface="Times New Roman" panose="02020603050405020304" pitchFamily="18" charset="0"/>
              </a:rPr>
              <a:t>Materia:</a:t>
            </a:r>
            <a:r>
              <a:rPr lang="es-ES" sz="1400" b="1" kern="0" dirty="0">
                <a:ea typeface="Times New Roman" panose="02020603050405020304" pitchFamily="18" charset="0"/>
              </a:rPr>
              <a:t> </a:t>
            </a:r>
            <a:endParaRPr lang="en-US" sz="1400" b="1" kern="0" dirty="0"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ES" sz="1400" dirty="0">
                <a:effectLst/>
                <a:ea typeface="Times New Roman" panose="02020603050405020304" pitchFamily="18" charset="0"/>
              </a:rPr>
              <a:t>COMUNICACIÓN E IMAGEN PROFESIONAL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endParaRPr lang="en-US" sz="1400" dirty="0">
              <a:effectLst/>
              <a:ea typeface="Times New Roman" panose="02020603050405020304" pitchFamily="18" charset="0"/>
            </a:endParaRPr>
          </a:p>
          <a:p>
            <a:pPr marL="1738630" marR="1748155" algn="ctr">
              <a:lnSpc>
                <a:spcPct val="150000"/>
              </a:lnSpc>
              <a:spcBef>
                <a:spcPts val="5"/>
              </a:spcBef>
              <a:spcAft>
                <a:spcPts val="0"/>
              </a:spcAft>
            </a:pPr>
            <a:r>
              <a:rPr lang="es-ES" sz="1600" b="1" kern="0" dirty="0">
                <a:ea typeface="Times New Roman" panose="02020603050405020304" pitchFamily="18" charset="0"/>
              </a:rPr>
              <a:t>Docente:</a:t>
            </a:r>
            <a:endParaRPr lang="en-US" sz="1400" dirty="0">
              <a:effectLst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ES" sz="1400" dirty="0">
                <a:ea typeface="Times New Roman" panose="02020603050405020304" pitchFamily="18" charset="0"/>
              </a:rPr>
              <a:t>	LCDA. </a:t>
            </a:r>
            <a:r>
              <a:rPr lang="en-US" sz="1400" dirty="0"/>
              <a:t>KAREN DENISSE CABRERA GOMEZ</a:t>
            </a:r>
            <a:r>
              <a:rPr lang="es-ES" sz="1600" dirty="0">
                <a:ea typeface="Times New Roman" panose="02020603050405020304" pitchFamily="18" charset="0"/>
              </a:rPr>
              <a:t>	</a:t>
            </a:r>
            <a:endParaRPr lang="en-US" sz="16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614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840FE335-85D7-6846-9A3A-5ABDFAA1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0"/>
            <a:ext cx="2286000" cy="14859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121A98C2-25B6-A143-A3A1-668C4729BAF3}"/>
              </a:ext>
            </a:extLst>
          </p:cNvPr>
          <p:cNvSpPr/>
          <p:nvPr/>
        </p:nvSpPr>
        <p:spPr>
          <a:xfrm>
            <a:off x="0" y="6614556"/>
            <a:ext cx="12192000" cy="243444"/>
          </a:xfrm>
          <a:prstGeom prst="rect">
            <a:avLst/>
          </a:prstGeom>
          <a:solidFill>
            <a:srgbClr val="7A1632"/>
          </a:solidFill>
          <a:ln>
            <a:solidFill>
              <a:srgbClr val="7A16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2" descr="La ética como disciplina filosófica | UDGVirtual Formación Integr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3802380" y="327451"/>
            <a:ext cx="4587240" cy="830997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4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30A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DANIEL NOBOA </a:t>
            </a:r>
            <a:endParaRPr lang="en-US" sz="48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30A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1026" name="Picture 2" descr="Gobierno de Daniel Noboa - Wikipedia, la enciclopedia lib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679" y="1317868"/>
            <a:ext cx="2962529" cy="2732360"/>
          </a:xfrm>
          <a:prstGeom prst="rect">
            <a:avLst/>
          </a:prstGeom>
          <a:ln w="38100" cap="sq" cmpd="thickThin">
            <a:solidFill>
              <a:srgbClr val="7030A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877824" y="4462272"/>
            <a:ext cx="10780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200" dirty="0"/>
              <a:t>Daniel Noboa Azin, nació el 30 de noviembre de 1987 en la ciudad de Guayaquil, hijo del empresario y ex candidato a la presidencia de la República, Álvaro Noboa Pontón y Annabella Azin, Doctora en Medicina., Daniel Noboa ha estado dos veces casado. Su primera esposa fue Gabriela Goldbaum, con la que tuvo una hija, Daniela, y desde 2021 es marido de Lavinia Valbonesi; juntos tiene dos  hijo, Álvaro y </a:t>
            </a:r>
            <a:r>
              <a:rPr lang="es-ES" sz="1200" dirty="0" err="1"/>
              <a:t>Furio</a:t>
            </a:r>
            <a:r>
              <a:rPr lang="es-ES" sz="1200" dirty="0"/>
              <a:t>. Asume la conducción del Gobierno Nacional a los 35 años de edad. Es el mandatario más joven del Ecuador republicano y de la América Latina contemporánea.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7734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840FE335-85D7-6846-9A3A-5ABDFAA1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0"/>
            <a:ext cx="2286000" cy="14859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121A98C2-25B6-A143-A3A1-668C4729BAF3}"/>
              </a:ext>
            </a:extLst>
          </p:cNvPr>
          <p:cNvSpPr/>
          <p:nvPr/>
        </p:nvSpPr>
        <p:spPr>
          <a:xfrm>
            <a:off x="0" y="6614556"/>
            <a:ext cx="12192000" cy="243444"/>
          </a:xfrm>
          <a:prstGeom prst="rect">
            <a:avLst/>
          </a:prstGeom>
          <a:solidFill>
            <a:srgbClr val="7A1632"/>
          </a:solidFill>
          <a:ln>
            <a:solidFill>
              <a:srgbClr val="7A16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2" descr="La ética como disciplina filosófica | UDGVirtual Formación Integr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ángulo 1"/>
          <p:cNvSpPr/>
          <p:nvPr/>
        </p:nvSpPr>
        <p:spPr>
          <a:xfrm>
            <a:off x="713232" y="496062"/>
            <a:ext cx="9079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FORMAS DE COMUNICACIÓN QUE UTILIZAN EN DIFERENTES MOMENTOS Y LO QUE EXPRESAN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713232" y="1327059"/>
            <a:ext cx="10561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C" sz="1200" dirty="0"/>
              <a:t>Daniel Noboa </a:t>
            </a:r>
            <a:r>
              <a:rPr lang="es-ES" sz="1200" dirty="0"/>
              <a:t>del partido Acción Democrática Nacional, es un político y empresario ecuatoriano, y fue electo presidente de Ecuador en la segunda vuelta del 15 de octubre de 2023.</a:t>
            </a:r>
            <a:r>
              <a:rPr lang="es-EC" sz="1200" dirty="0"/>
              <a:t> Es bastante expresivo al momento de expresarse ante las demás personas. También por la gestión que está realizando ha cautivado la atención de países vecinos.</a:t>
            </a:r>
            <a:endParaRPr lang="en-US" sz="1200" dirty="0"/>
          </a:p>
        </p:txBody>
      </p:sp>
      <p:sp>
        <p:nvSpPr>
          <p:cNvPr id="10" name="Rectángulo 9"/>
          <p:cNvSpPr/>
          <p:nvPr/>
        </p:nvSpPr>
        <p:spPr>
          <a:xfrm>
            <a:off x="460375" y="2158056"/>
            <a:ext cx="102563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5">
                    <a:lumMod val="50000"/>
                  </a:schemeClr>
                </a:solidFill>
                <a:ea typeface="Times New Roman" panose="02020603050405020304" pitchFamily="18" charset="0"/>
              </a:rPr>
              <a:t>COMUNICACIÓN VERBAL</a:t>
            </a:r>
          </a:p>
          <a:p>
            <a:pPr algn="just">
              <a:lnSpc>
                <a:spcPct val="150000"/>
              </a:lnSpc>
            </a:pPr>
            <a:r>
              <a:rPr lang="es-EC" sz="1200" u="sng" dirty="0">
                <a:solidFill>
                  <a:srgbClr val="FF0000"/>
                </a:solidFill>
              </a:rPr>
              <a:t>ESTILO Y TONO</a:t>
            </a:r>
            <a:r>
              <a:rPr lang="es-EC" sz="1200" dirty="0">
                <a:solidFill>
                  <a:srgbClr val="FF0000"/>
                </a:solidFill>
              </a:rPr>
              <a:t>: </a:t>
            </a:r>
            <a:r>
              <a:rPr lang="es-EC" sz="1200" dirty="0"/>
              <a:t>Como presidente, Daniel Noboa podría adoptar un tono más formal y autoritario en sus discursos públicos.</a:t>
            </a:r>
          </a:p>
          <a:p>
            <a:pPr algn="just">
              <a:lnSpc>
                <a:spcPct val="150000"/>
              </a:lnSpc>
            </a:pPr>
            <a:r>
              <a:rPr lang="es-EC" sz="1200" u="sng" dirty="0">
                <a:solidFill>
                  <a:srgbClr val="FF0000"/>
                </a:solidFill>
              </a:rPr>
              <a:t>VOCABULARIO Y COMPLEJIDAD</a:t>
            </a:r>
            <a:r>
              <a:rPr lang="es-EC" sz="1200" dirty="0">
                <a:solidFill>
                  <a:srgbClr val="FF0000"/>
                </a:solidFill>
              </a:rPr>
              <a:t>: </a:t>
            </a:r>
            <a:r>
              <a:rPr lang="es-EC" sz="1200" dirty="0"/>
              <a:t>Debido a sus diferentes antecedentes educativos y experiencias profesionales, el presidente Noboa podría usar un vocabulario más técnico o específico en temas políticos o empresariales. </a:t>
            </a:r>
            <a:endParaRPr lang="en-US" sz="1200" dirty="0"/>
          </a:p>
          <a:p>
            <a:pPr algn="just">
              <a:lnSpc>
                <a:spcPct val="150000"/>
              </a:lnSpc>
            </a:pPr>
            <a:r>
              <a:rPr lang="es-EC" sz="1200" u="sng" dirty="0">
                <a:solidFill>
                  <a:srgbClr val="FF0000"/>
                </a:solidFill>
              </a:rPr>
              <a:t>TEMAS DE DISCUSIÓN</a:t>
            </a:r>
            <a:r>
              <a:rPr lang="es-EC" sz="1200" dirty="0">
                <a:solidFill>
                  <a:srgbClr val="FF0000"/>
                </a:solidFill>
              </a:rPr>
              <a:t>: </a:t>
            </a:r>
            <a:r>
              <a:rPr lang="es-EC" sz="1200" dirty="0"/>
              <a:t>Como presidente, Daniel Noboa abordaría principalmente temas políticos, económicos y sociales relevantes para su país.</a:t>
            </a:r>
            <a:endParaRPr lang="en-US" sz="1200" dirty="0"/>
          </a:p>
          <a:p>
            <a:pPr algn="just">
              <a:lnSpc>
                <a:spcPct val="150000"/>
              </a:lnSpc>
            </a:pPr>
            <a:r>
              <a:rPr lang="es-EC" sz="1200" dirty="0"/>
              <a:t> </a:t>
            </a:r>
            <a:r>
              <a:rPr lang="es-EC" sz="1200" u="sng" dirty="0">
                <a:solidFill>
                  <a:srgbClr val="FF0000"/>
                </a:solidFill>
              </a:rPr>
              <a:t>ENFOQUE EN LA AUDIENCIA</a:t>
            </a:r>
            <a:r>
              <a:rPr lang="es-EC" sz="1200" dirty="0">
                <a:solidFill>
                  <a:srgbClr val="FF0000"/>
                </a:solidFill>
              </a:rPr>
              <a:t>: </a:t>
            </a:r>
            <a:r>
              <a:rPr lang="es-EC" sz="1200" dirty="0"/>
              <a:t>Como orador probamente ajuste su comunicación según la audiencia. Daniel Noboa podría adaptarse a un público nacional o internacional.</a:t>
            </a:r>
            <a:endParaRPr lang="en-US" sz="1200" dirty="0"/>
          </a:p>
          <a:p>
            <a:pPr algn="just">
              <a:lnSpc>
                <a:spcPct val="150000"/>
              </a:lnSpc>
            </a:pPr>
            <a:r>
              <a:rPr lang="es-EC" sz="1200" dirty="0"/>
              <a:t> </a:t>
            </a:r>
            <a:r>
              <a:rPr lang="es-EC" sz="1200" u="sng" dirty="0">
                <a:solidFill>
                  <a:srgbClr val="FF0000"/>
                </a:solidFill>
              </a:rPr>
              <a:t>ESTILO DE ARGUMENTACIÓN</a:t>
            </a:r>
            <a:r>
              <a:rPr lang="es-EC" sz="1200" dirty="0">
                <a:solidFill>
                  <a:srgbClr val="FF0000"/>
                </a:solidFill>
              </a:rPr>
              <a:t>: </a:t>
            </a:r>
            <a:r>
              <a:rPr lang="es-EC" sz="1200" dirty="0"/>
              <a:t>En discursos políticos, el presidente Noboa podría emplear un estilo de argumentación más persuasivo o político.</a:t>
            </a:r>
            <a:endParaRPr lang="en-US" sz="1200" dirty="0"/>
          </a:p>
          <a:p>
            <a:pPr algn="just">
              <a:lnSpc>
                <a:spcPct val="150000"/>
              </a:lnSpc>
            </a:pPr>
            <a:endParaRPr lang="en-US" sz="1200" dirty="0"/>
          </a:p>
        </p:txBody>
      </p:sp>
      <p:pic>
        <p:nvPicPr>
          <p:cNvPr id="2050" name="Picture 2" descr="Se burla AMLO de Daniel Noboa por usar chaleco antibalas al debate  presidencial de Ecuador - Almomento | Noticias, información nacional e  internacion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864" y="4513916"/>
            <a:ext cx="3450271" cy="1941799"/>
          </a:xfrm>
          <a:prstGeom prst="rect">
            <a:avLst/>
          </a:prstGeom>
          <a:ln w="38100" cap="sq" cmpd="thickThin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15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840FE335-85D7-6846-9A3A-5ABDFAA1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0"/>
            <a:ext cx="2286000" cy="14859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121A98C2-25B6-A143-A3A1-668C4729BAF3}"/>
              </a:ext>
            </a:extLst>
          </p:cNvPr>
          <p:cNvSpPr/>
          <p:nvPr/>
        </p:nvSpPr>
        <p:spPr>
          <a:xfrm>
            <a:off x="0" y="6614556"/>
            <a:ext cx="12192000" cy="243444"/>
          </a:xfrm>
          <a:prstGeom prst="rect">
            <a:avLst/>
          </a:prstGeom>
          <a:solidFill>
            <a:srgbClr val="7A1632"/>
          </a:solidFill>
          <a:ln>
            <a:solidFill>
              <a:srgbClr val="7A16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2" descr="La ética como disciplina filosófica | UDGVirtual Formación Integr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ángulo 1"/>
          <p:cNvSpPr/>
          <p:nvPr/>
        </p:nvSpPr>
        <p:spPr>
          <a:xfrm>
            <a:off x="434054" y="471215"/>
            <a:ext cx="2398798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876550" algn="ctr"/>
              </a:tabLst>
            </a:pPr>
            <a:r>
              <a:rPr lang="es-ES" b="1" dirty="0">
                <a:solidFill>
                  <a:schemeClr val="accent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APARIENCIA FÍSICA </a:t>
            </a:r>
            <a:endParaRPr lang="en-US" sz="1600" b="1" dirty="0">
              <a:solidFill>
                <a:schemeClr val="accent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460375" y="1217621"/>
            <a:ext cx="10805160" cy="1351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400" b="1" u="sng" dirty="0">
                <a:solidFill>
                  <a:schemeClr val="accent2"/>
                </a:solidFill>
                <a:ea typeface="Times New Roman" panose="02020603050405020304" pitchFamily="18" charset="0"/>
              </a:rPr>
              <a:t>Género</a:t>
            </a:r>
            <a:r>
              <a:rPr lang="es-EC" sz="1400" b="1" dirty="0">
                <a:solidFill>
                  <a:schemeClr val="accent2"/>
                </a:solidFill>
                <a:ea typeface="Times New Roman" panose="02020603050405020304" pitchFamily="18" charset="0"/>
              </a:rPr>
              <a:t>: </a:t>
            </a:r>
            <a:r>
              <a:rPr lang="es-EC" sz="1400" dirty="0">
                <a:ea typeface="Times New Roman" panose="02020603050405020304" pitchFamily="18" charset="0"/>
              </a:rPr>
              <a:t>Daniel Noboa es un hombre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400" b="1" u="sng" dirty="0">
                <a:solidFill>
                  <a:schemeClr val="accent2"/>
                </a:solidFill>
                <a:ea typeface="Times New Roman" panose="02020603050405020304" pitchFamily="18" charset="0"/>
              </a:rPr>
              <a:t>Origen étnico</a:t>
            </a:r>
            <a:r>
              <a:rPr lang="es-EC" sz="1400" b="1" dirty="0">
                <a:solidFill>
                  <a:schemeClr val="accent2"/>
                </a:solidFill>
                <a:ea typeface="Times New Roman" panose="02020603050405020304" pitchFamily="18" charset="0"/>
              </a:rPr>
              <a:t>: </a:t>
            </a:r>
            <a:r>
              <a:rPr lang="es-EC" sz="1400" dirty="0">
                <a:ea typeface="Times New Roman" panose="02020603050405020304" pitchFamily="18" charset="0"/>
              </a:rPr>
              <a:t>Daniel Noboa es ecuatoriano, lo que probablemente se refleje en su apariencia física, incluidos rasgos faciales, color de piel, etc. </a:t>
            </a:r>
            <a:endParaRPr lang="en-US" sz="1400" dirty="0"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400" b="1" dirty="0">
                <a:solidFill>
                  <a:schemeClr val="accent2"/>
                </a:solidFill>
                <a:ea typeface="Times New Roman" panose="02020603050405020304" pitchFamily="18" charset="0"/>
              </a:rPr>
              <a:t> </a:t>
            </a:r>
            <a:r>
              <a:rPr lang="es-EC" sz="1400" b="1" u="sng" dirty="0">
                <a:solidFill>
                  <a:schemeClr val="accent2"/>
                </a:solidFill>
                <a:ea typeface="Times New Roman" panose="02020603050405020304" pitchFamily="18" charset="0"/>
              </a:rPr>
              <a:t>Estilo de vestir</a:t>
            </a:r>
            <a:r>
              <a:rPr lang="es-EC" sz="1400" b="1" dirty="0">
                <a:solidFill>
                  <a:schemeClr val="accent2"/>
                </a:solidFill>
                <a:ea typeface="Times New Roman" panose="02020603050405020304" pitchFamily="18" charset="0"/>
              </a:rPr>
              <a:t>: </a:t>
            </a:r>
            <a:r>
              <a:rPr lang="es-EC" sz="1400" dirty="0">
                <a:ea typeface="Times New Roman" panose="02020603050405020304" pitchFamily="18" charset="0"/>
              </a:rPr>
              <a:t>El presidente Daniel Noboa tiene estilos diferentes de vestir debido a sus roles y contextos culturales diferentes y a su vez dependerá de su preferencia personal y del contexto en el que se encuentre.</a:t>
            </a:r>
            <a:endParaRPr lang="en-US" sz="1400" dirty="0">
              <a:ea typeface="Times New Roman" panose="02020603050405020304" pitchFamily="18" charset="0"/>
            </a:endParaRPr>
          </a:p>
        </p:txBody>
      </p:sp>
      <p:pic>
        <p:nvPicPr>
          <p:cNvPr id="3074" name="Picture 2" descr="Daniel Noboa asegura no estar arrepentido del asalto a la embajada de  México en Ecuador - Informativo Entre Tod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547872"/>
            <a:ext cx="3666617" cy="244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oboa afirma que no se arrepiente de haber ordenado el ingreso a la  Embajada de México en Quit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416" y="3547871"/>
            <a:ext cx="2916936" cy="244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90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840FE335-85D7-6846-9A3A-5ABDFAA1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0"/>
            <a:ext cx="2286000" cy="14859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121A98C2-25B6-A143-A3A1-668C4729BAF3}"/>
              </a:ext>
            </a:extLst>
          </p:cNvPr>
          <p:cNvSpPr/>
          <p:nvPr/>
        </p:nvSpPr>
        <p:spPr>
          <a:xfrm>
            <a:off x="2190362" y="11235123"/>
            <a:ext cx="2386846" cy="57964"/>
          </a:xfrm>
          <a:prstGeom prst="rect">
            <a:avLst/>
          </a:prstGeom>
          <a:solidFill>
            <a:srgbClr val="7A1632"/>
          </a:solidFill>
          <a:ln>
            <a:solidFill>
              <a:srgbClr val="7A16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2" descr="La ética como disciplina filosófica | UDGVirtual Formación Integr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ángulo 8"/>
          <p:cNvSpPr/>
          <p:nvPr/>
        </p:nvSpPr>
        <p:spPr>
          <a:xfrm>
            <a:off x="460375" y="228324"/>
            <a:ext cx="6096000" cy="3906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876550" algn="ctr"/>
              </a:tabLst>
            </a:pPr>
            <a:r>
              <a:rPr lang="es-ES" b="1" dirty="0">
                <a:latin typeface="Calibri" panose="020F0502020204030204" pitchFamily="34" charset="0"/>
                <a:ea typeface="Times New Roman" panose="02020603050405020304" pitchFamily="18" charset="0"/>
              </a:rPr>
              <a:t>EXPRESIÓN CORPORAL </a:t>
            </a:r>
            <a:endParaRPr lang="en-US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70560" y="619008"/>
            <a:ext cx="96164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u="sng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Dominio y sutileza</a:t>
            </a:r>
            <a:endParaRPr lang="en-US" sz="1200" dirty="0">
              <a:solidFill>
                <a:schemeClr val="accent2">
                  <a:lumMod val="75000"/>
                </a:schemeClr>
              </a:solidFill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dirty="0">
                <a:ea typeface="Times New Roman" panose="02020603050405020304" pitchFamily="18" charset="0"/>
              </a:rPr>
              <a:t> 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dirty="0">
                <a:ea typeface="Times New Roman" panose="02020603050405020304" pitchFamily="18" charset="0"/>
              </a:rPr>
              <a:t>Controla las situaciones tanto verbal como no verbalmente. Marca dominancia con sutileza, sin resultar agresivo.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u="sng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Estilo de liderazgo comunicativo:</a:t>
            </a:r>
            <a:endParaRPr lang="en-US" sz="1200" dirty="0">
              <a:solidFill>
                <a:schemeClr val="accent2">
                  <a:lumMod val="75000"/>
                </a:schemeClr>
              </a:solidFill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dirty="0">
                <a:ea typeface="Times New Roman" panose="02020603050405020304" pitchFamily="18" charset="0"/>
              </a:rPr>
              <a:t>Mensajes bien estructurados, lenguaje corporal auténtico y empático, y uso de recursos visuales.</a:t>
            </a:r>
            <a:endParaRPr lang="en-US" sz="1200" dirty="0">
              <a:ea typeface="Times New Roman" panose="02020603050405020304" pitchFamily="18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8479663" y="3118389"/>
            <a:ext cx="6096000" cy="3906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876550" algn="ctr"/>
              </a:tabLst>
            </a:pPr>
            <a:r>
              <a:rPr lang="es-ES" b="1" dirty="0">
                <a:latin typeface="Calibri" panose="020F0502020204030204" pitchFamily="34" charset="0"/>
                <a:ea typeface="Times New Roman" panose="02020603050405020304" pitchFamily="18" charset="0"/>
              </a:rPr>
              <a:t>GESTICULACIÓN </a:t>
            </a:r>
            <a:endParaRPr lang="en-US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098" name="Picture 2" descr="Daniel Noboa emite carta ante crisis con México: justifica su medida para  evitar impunidad de crimina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040" y="1201468"/>
            <a:ext cx="2346960" cy="142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2846132" y="3700476"/>
            <a:ext cx="93642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b="1" u="sng" dirty="0">
                <a:solidFill>
                  <a:schemeClr val="accent6"/>
                </a:solidFill>
                <a:ea typeface="Times New Roman" panose="02020603050405020304" pitchFamily="18" charset="0"/>
              </a:rPr>
              <a:t>CONTROL GESTUA</a:t>
            </a:r>
            <a:r>
              <a:rPr lang="es-EC" sz="1200" b="1" dirty="0">
                <a:solidFill>
                  <a:schemeClr val="accent6"/>
                </a:solidFill>
                <a:ea typeface="Times New Roman" panose="02020603050405020304" pitchFamily="18" charset="0"/>
              </a:rPr>
              <a:t>L: </a:t>
            </a:r>
            <a:r>
              <a:rPr lang="es-EC" sz="1200" dirty="0">
                <a:ea typeface="Times New Roman" panose="02020603050405020304" pitchFamily="18" charset="0"/>
              </a:rPr>
              <a:t>podría tener gestos más controlados y menos frecuentes, utilizando principalmente gestos sutiles para enfatizar puntos clave.  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b="1" u="sng" dirty="0">
                <a:solidFill>
                  <a:schemeClr val="accent6"/>
                </a:solidFill>
                <a:ea typeface="Times New Roman" panose="02020603050405020304" pitchFamily="18" charset="0"/>
              </a:rPr>
              <a:t>TIPO DE GESTOS</a:t>
            </a:r>
            <a:r>
              <a:rPr lang="es-EC" sz="1200" b="1" dirty="0">
                <a:solidFill>
                  <a:schemeClr val="accent6"/>
                </a:solidFill>
                <a:ea typeface="Times New Roman" panose="02020603050405020304" pitchFamily="18" charset="0"/>
              </a:rPr>
              <a:t>: </a:t>
            </a:r>
            <a:r>
              <a:rPr lang="es-EC" sz="1200" dirty="0">
                <a:ea typeface="Times New Roman" panose="02020603050405020304" pitchFamily="18" charset="0"/>
              </a:rPr>
              <a:t>podría utilizar gestos más formales y reservados, como movimientos de las manos cerca del cuerpo y gestos con las manos abiertas o cerradas para transmitir autoridad o énfasis.  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b="1" u="sng" dirty="0">
                <a:solidFill>
                  <a:schemeClr val="accent6"/>
                </a:solidFill>
                <a:ea typeface="Times New Roman" panose="02020603050405020304" pitchFamily="18" charset="0"/>
              </a:rPr>
              <a:t>USO DE GESTOS FACIALES</a:t>
            </a:r>
            <a:r>
              <a:rPr lang="es-EC" sz="1200" b="1" dirty="0">
                <a:solidFill>
                  <a:schemeClr val="accent6"/>
                </a:solidFill>
                <a:ea typeface="Times New Roman" panose="02020603050405020304" pitchFamily="18" charset="0"/>
              </a:rPr>
              <a:t>: </a:t>
            </a:r>
            <a:r>
              <a:rPr lang="es-EC" sz="1200" dirty="0">
                <a:ea typeface="Times New Roman" panose="02020603050405020304" pitchFamily="18" charset="0"/>
              </a:rPr>
              <a:t>podría tener una gestualidad facial más controlada, con expresiones faciales que reflejan seriedad y determinación, utilizando sonrisas de manera más medida.  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C" sz="1200" b="1" u="sng" dirty="0">
                <a:solidFill>
                  <a:schemeClr val="accent6"/>
                </a:solidFill>
                <a:ea typeface="Times New Roman" panose="02020603050405020304" pitchFamily="18" charset="0"/>
              </a:rPr>
              <a:t>RELACIÓN CON EL DISCURSO</a:t>
            </a:r>
            <a:r>
              <a:rPr lang="es-EC" sz="1200" b="1" dirty="0">
                <a:solidFill>
                  <a:schemeClr val="accent6"/>
                </a:solidFill>
                <a:ea typeface="Times New Roman" panose="02020603050405020304" pitchFamily="18" charset="0"/>
              </a:rPr>
              <a:t>:</a:t>
            </a:r>
            <a:r>
              <a:rPr lang="es-EC" sz="1200" dirty="0">
                <a:ea typeface="Times New Roman" panose="02020603050405020304" pitchFamily="18" charset="0"/>
              </a:rPr>
              <a:t> Los gestos de Daniel Noboa podrían estar más directamente relacionados con el contenido del discurso, utilizándolos para enfatizar puntos clave o transmitir mensajes específicos. </a:t>
            </a: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4100" name="Picture 4" descr="Daniel Noboa, fiel a los pasos de su papá en los 'negocios, ayuda social y  en política' | Política | Noticias | El Univers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69" y="3509073"/>
            <a:ext cx="2579913" cy="245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65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840FE335-85D7-6846-9A3A-5ABDFAA1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0"/>
            <a:ext cx="2286000" cy="14859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121A98C2-25B6-A143-A3A1-668C4729BAF3}"/>
              </a:ext>
            </a:extLst>
          </p:cNvPr>
          <p:cNvSpPr/>
          <p:nvPr/>
        </p:nvSpPr>
        <p:spPr>
          <a:xfrm>
            <a:off x="2190362" y="11235123"/>
            <a:ext cx="2386846" cy="57964"/>
          </a:xfrm>
          <a:prstGeom prst="rect">
            <a:avLst/>
          </a:prstGeom>
          <a:solidFill>
            <a:srgbClr val="7A1632"/>
          </a:solidFill>
          <a:ln>
            <a:solidFill>
              <a:srgbClr val="7A16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2" descr="La ética como disciplina filosófica | UDGVirtual Formación Integr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ángulo 10"/>
          <p:cNvSpPr/>
          <p:nvPr/>
        </p:nvSpPr>
        <p:spPr>
          <a:xfrm>
            <a:off x="460375" y="440807"/>
            <a:ext cx="2060017" cy="390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876550" algn="ctr"/>
              </a:tabLst>
            </a:pPr>
            <a:r>
              <a:rPr lang="es-ES" dirty="0">
                <a:solidFill>
                  <a:srgbClr val="CC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PROXÉMICA</a:t>
            </a:r>
            <a:r>
              <a:rPr lang="es-ES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335785" y="1304198"/>
            <a:ext cx="111408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C" sz="1200" b="1" u="sng" dirty="0">
                <a:solidFill>
                  <a:srgbClr val="6B9EFB"/>
                </a:solidFill>
                <a:ea typeface="Times New Roman" panose="02020603050405020304" pitchFamily="18" charset="0"/>
              </a:rPr>
              <a:t>DISTANCIA INTERPERSONAL</a:t>
            </a:r>
            <a:r>
              <a:rPr lang="es-EC" sz="1200" b="1" dirty="0">
                <a:solidFill>
                  <a:srgbClr val="6B9EFB"/>
                </a:solidFill>
                <a:ea typeface="Times New Roman" panose="02020603050405020304" pitchFamily="18" charset="0"/>
              </a:rPr>
              <a:t>: </a:t>
            </a:r>
            <a:r>
              <a:rPr lang="es-EC" sz="1200" dirty="0">
                <a:ea typeface="Times New Roman" panose="02020603050405020304" pitchFamily="18" charset="0"/>
              </a:rPr>
              <a:t>Mantiene una distancia más formal y reservada con los demás, especialmente en situaciones públicas o formales, lo que se reflejaría en una proxémica más amplia. 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s-EC" sz="1200" dirty="0">
                <a:ea typeface="Times New Roman" panose="02020603050405020304" pitchFamily="18" charset="0"/>
              </a:rPr>
              <a:t> 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s-EC" sz="1200" b="1" u="sng" dirty="0">
                <a:solidFill>
                  <a:srgbClr val="6B9EFB"/>
                </a:solidFill>
                <a:ea typeface="Times New Roman" panose="02020603050405020304" pitchFamily="18" charset="0"/>
              </a:rPr>
              <a:t>USO DEL ESPACIO</a:t>
            </a:r>
            <a:r>
              <a:rPr lang="es-EC" sz="1200" b="1" dirty="0">
                <a:solidFill>
                  <a:srgbClr val="6B9EFB"/>
                </a:solidFill>
                <a:ea typeface="Times New Roman" panose="02020603050405020304" pitchFamily="18" charset="0"/>
              </a:rPr>
              <a:t>: </a:t>
            </a:r>
            <a:r>
              <a:rPr lang="es-EC" sz="1200" dirty="0">
                <a:ea typeface="Times New Roman" panose="02020603050405020304" pitchFamily="18" charset="0"/>
              </a:rPr>
              <a:t>En situaciones públicas, Daniel Noboa podría ocupar un espacio más dominante y central, reflejando su posición de liderazgo. 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s-EC" sz="1200" dirty="0">
                <a:ea typeface="Times New Roman" panose="02020603050405020304" pitchFamily="18" charset="0"/>
              </a:rPr>
              <a:t> 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s-EC" sz="1200" b="1" u="sng" dirty="0">
                <a:solidFill>
                  <a:srgbClr val="6B9EFB"/>
                </a:solidFill>
                <a:ea typeface="Times New Roman" panose="02020603050405020304" pitchFamily="18" charset="0"/>
              </a:rPr>
              <a:t>ORIENTACIÓN CORPORAL</a:t>
            </a:r>
            <a:r>
              <a:rPr lang="es-EC" sz="1200" b="1" dirty="0">
                <a:solidFill>
                  <a:srgbClr val="6B9EFB"/>
                </a:solidFill>
                <a:ea typeface="Times New Roman" panose="02020603050405020304" pitchFamily="18" charset="0"/>
              </a:rPr>
              <a:t>: </a:t>
            </a:r>
            <a:r>
              <a:rPr lang="es-EC" sz="1200" dirty="0">
                <a:ea typeface="Times New Roman" panose="02020603050405020304" pitchFamily="18" charset="0"/>
              </a:rPr>
              <a:t>Orienta su cuerpo de manera más directa hacia la audiencia o hacia interlocutores específicos, mostrando un enfoque más centrado y formal. 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s-EC" sz="1200" dirty="0">
                <a:ea typeface="Times New Roman" panose="02020603050405020304" pitchFamily="18" charset="0"/>
              </a:rPr>
              <a:t> </a:t>
            </a:r>
            <a:endParaRPr lang="en-US" sz="12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s-EC" sz="1200" b="1" u="sng" dirty="0">
                <a:solidFill>
                  <a:srgbClr val="6B9EFB"/>
                </a:solidFill>
                <a:ea typeface="Times New Roman" panose="02020603050405020304" pitchFamily="18" charset="0"/>
              </a:rPr>
              <a:t>MOVIMIENTO EN EL ESPACIO</a:t>
            </a:r>
            <a:r>
              <a:rPr lang="es-EC" sz="1200" b="1" dirty="0">
                <a:solidFill>
                  <a:srgbClr val="6B9EFB"/>
                </a:solidFill>
                <a:ea typeface="Times New Roman" panose="02020603050405020304" pitchFamily="18" charset="0"/>
              </a:rPr>
              <a:t>:</a:t>
            </a:r>
            <a:r>
              <a:rPr lang="es-EC" sz="1200" dirty="0">
                <a:ea typeface="Times New Roman" panose="02020603050405020304" pitchFamily="18" charset="0"/>
              </a:rPr>
              <a:t> Tiene sus movimientos más controlados y limitados en el espacio, especialmente en situaciones formales o de presentación. </a:t>
            </a: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5122" name="Picture 2" descr="Presidente Daniel Noboa dialoga con Volodimir Zelenski, quien agradece a  Ecuador por su apoyo ante la invasión de Rusia a Ucrania - NOTIMU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842368" y="3346565"/>
            <a:ext cx="2695987" cy="1598786"/>
          </a:xfrm>
          <a:prstGeom prst="rect">
            <a:avLst/>
          </a:prstGeom>
          <a:ln w="28575" cap="sq" cmpd="thickThin">
            <a:solidFill>
              <a:srgbClr val="FF66CC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Zelenski invita a Daniel Noboa a Ucrania y agradece por la postura de  Ecuador sobre invasión rus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219" y="3347848"/>
            <a:ext cx="2724785" cy="1660416"/>
          </a:xfrm>
          <a:prstGeom prst="rect">
            <a:avLst/>
          </a:prstGeom>
          <a:ln w="28575" cap="sq" cmpd="thickThin">
            <a:solidFill>
              <a:srgbClr val="FF66CC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53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Title 1">
            <a:extLst>
              <a:ext uri="{FF2B5EF4-FFF2-40B4-BE49-F238E27FC236}">
                <a16:creationId xmlns:a16="http://schemas.microsoft.com/office/drawing/2014/main" id="{43B6411F-FB30-BC86-8461-62BB9B4A2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 anchor="b">
            <a:normAutofit/>
          </a:bodyPr>
          <a:lstStyle/>
          <a:p>
            <a:r>
              <a:rPr lang="en-US" dirty="0"/>
              <a:t>Elizabeth Olsen</a:t>
            </a:r>
          </a:p>
        </p:txBody>
      </p:sp>
      <p:pic>
        <p:nvPicPr>
          <p:cNvPr id="6" name="Imagen 5" descr="Una mujer con el cabello largo&#10;&#10;Descripción generada automáticamente">
            <a:extLst>
              <a:ext uri="{FF2B5EF4-FFF2-40B4-BE49-F238E27FC236}">
                <a16:creationId xmlns:a16="http://schemas.microsoft.com/office/drawing/2014/main" id="{1A73C01F-4772-1BCF-55BD-8A03E285A8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63" r="19213"/>
          <a:stretch/>
        </p:blipFill>
        <p:spPr>
          <a:xfrm>
            <a:off x="20" y="-5080"/>
            <a:ext cx="657627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90747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B53E69-5406-F55A-17CE-DD1DF21D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28" name="Marcador de contenido 27" descr="Una persona con una multitud de gente&#10;&#10;Descripción generada automáticamente">
            <a:extLst>
              <a:ext uri="{FF2B5EF4-FFF2-40B4-BE49-F238E27FC236}">
                <a16:creationId xmlns:a16="http://schemas.microsoft.com/office/drawing/2014/main" id="{7626407E-075C-D714-9FAD-F1AD73A1F741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 rotWithShape="1">
          <a:blip r:embed="rId2">
            <a:alphaModFix amt="35000"/>
          </a:blip>
          <a:srcRect l="2304" t="175" r="5158" b="12325"/>
          <a:stretch/>
        </p:blipFill>
        <p:spPr>
          <a:xfrm>
            <a:off x="2199895" y="4570"/>
            <a:ext cx="9992105" cy="6853430"/>
          </a:xfr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D90FEE4-BA5D-D568-7976-7429E573D2B9}"/>
              </a:ext>
            </a:extLst>
          </p:cNvPr>
          <p:cNvSpPr txBox="1"/>
          <p:nvPr/>
        </p:nvSpPr>
        <p:spPr>
          <a:xfrm>
            <a:off x="6022187" y="2200945"/>
            <a:ext cx="5601350" cy="247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Comunicación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Verbal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Su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léxico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fluido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emocional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además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comunicación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verbal de forma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gesticular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suele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desacuerdo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14000"/>
              </a:lnSpc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Apariencia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Física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Tiene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postura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elegante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atractiva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llama la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sus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seguidores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aunque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use redes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sociales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>
              <a:lnSpc>
                <a:spcPct val="114000"/>
              </a:lnSpc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reservada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introspectivo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14000"/>
              </a:lnSpc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Expresión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Corporal: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entrevistas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además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sonreír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suele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colocar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mano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encima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otra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delicadeza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14000"/>
              </a:lnSpc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24" name="Marcador de posición de imagen 23" descr="Una mujer con un micrófono en la mano&#10;&#10;Descripción generada automáticamente con confianza baja">
            <a:extLst>
              <a:ext uri="{FF2B5EF4-FFF2-40B4-BE49-F238E27FC236}">
                <a16:creationId xmlns:a16="http://schemas.microsoft.com/office/drawing/2014/main" id="{8CC79162-73B3-83C4-DA2B-4BFAA18A3D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043" r="1204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2438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72807" y="2467637"/>
            <a:ext cx="3943627" cy="3032733"/>
          </a:xfrm>
        </p:spPr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Gesticulación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movimientos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sus manos al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expresarse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ocaciones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movimientos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cabeza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acompañado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respiración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moderada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14000"/>
              </a:lnSpc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Proxémica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Usualmente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vemos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distancia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personal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debido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que es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pública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actriz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Hollywood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suele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estrecha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mano con las de sus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colegas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actores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2" name="Imagen 11" descr="Hombre y mujer posando para la cámara con una chaqueta negra&#10;&#10;Descripción generada automáticamente con confianza media">
            <a:extLst>
              <a:ext uri="{FF2B5EF4-FFF2-40B4-BE49-F238E27FC236}">
                <a16:creationId xmlns:a16="http://schemas.microsoft.com/office/drawing/2014/main" id="{0DD58644-D672-D048-1B0F-4C2713446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868" y="441701"/>
            <a:ext cx="3983065" cy="597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 descr="Una mujer sonriendo&#10;&#10;Descripción generada automáticamente">
            <a:extLst>
              <a:ext uri="{FF2B5EF4-FFF2-40B4-BE49-F238E27FC236}">
                <a16:creationId xmlns:a16="http://schemas.microsoft.com/office/drawing/2014/main" id="{EBF418F5-A5EF-50B9-DCCE-98A84BA0A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CD124C-9D58-644E-6228-C529219B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80F71EA-0677-E3DA-2536-E2C7BC527D89}"/>
              </a:ext>
            </a:extLst>
          </p:cNvPr>
          <p:cNvSpPr txBox="1"/>
          <p:nvPr/>
        </p:nvSpPr>
        <p:spPr>
          <a:xfrm>
            <a:off x="363255" y="2336265"/>
            <a:ext cx="3945698" cy="2185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Motivo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selección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personaje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algn="just">
              <a:lnSpc>
                <a:spcPct val="114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seleccionado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Elizabeth Olsen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principalmente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porque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Buena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actriz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me llama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cualidades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desenvuelve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las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demás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personas.</a:t>
            </a:r>
          </a:p>
          <a:p>
            <a:pPr algn="just">
              <a:lnSpc>
                <a:spcPct val="114000"/>
              </a:lnSpc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general: </a:t>
            </a:r>
          </a:p>
          <a:p>
            <a:pPr algn="just">
              <a:lnSpc>
                <a:spcPct val="114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 ser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actriz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destaca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papeles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versátiles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captando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público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don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transmitir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emociones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2605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905</Words>
  <Application>Microsoft Office PowerPoint</Application>
  <PresentationFormat>Panorámica</PresentationFormat>
  <Paragraphs>66</Paragraphs>
  <Slides>10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Symbol</vt:lpstr>
      <vt:lpstr>Tenorite</vt:lpstr>
      <vt:lpstr>Times New Roman</vt:lpstr>
      <vt:lpstr>Tema de Office</vt:lpstr>
      <vt:lpstr>Custom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Elizabeth Olsen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ELVIS ALEXANDER CRESPO SUAREZ</cp:lastModifiedBy>
  <cp:revision>10</cp:revision>
  <dcterms:created xsi:type="dcterms:W3CDTF">2024-06-29T18:04:59Z</dcterms:created>
  <dcterms:modified xsi:type="dcterms:W3CDTF">2024-06-30T03:25:48Z</dcterms:modified>
</cp:coreProperties>
</file>